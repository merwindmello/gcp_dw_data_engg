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9EDE-B64B-4C86-9554-2E7E9FAE9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778E2-0D0D-4506-9485-968C42525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2B028-E0BA-4EEF-A362-F3800B89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B5587-D015-403F-B7CD-858DA1E9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E962D-D008-4C5F-8F27-5CD6AB834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55B9-330D-4078-A740-ABB2798A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6808E-29AA-421D-9F6B-5C0A5A5FA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322AF-F3DB-4ED6-A17A-4739F6EA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7EEC3-9E23-419E-B65F-40E9E6EE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FCCB-7F94-4061-9687-22A235A3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E5D0-529F-4574-B31B-41BE404F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3F149-19E1-4793-A652-8E1F3A19F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C766C-AABD-44F0-BE91-C78DDF08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3D5E5-DECB-4F25-9062-AD7EF0CB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FA21-9A60-48CE-A1C9-42C2E64C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5B8E-9F17-4F7C-B277-18260AF2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BF89-EBC2-485D-9772-0DAE7B2E9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F0C23-240E-4E0B-B06E-3DA433AA5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CDF4D-F7C4-4F98-BB1E-85E3DFF9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F2113-7A16-4795-AB4B-23A53695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F9C5B-FC13-4B5E-8A00-D9F8BC5B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93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54A9-4D23-4445-A2FE-7A4B60BF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3BF56-22F7-4A0C-BA71-70A9E05EE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0AF19-E5BD-4262-86B2-EBF4C271A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AE137-79D0-42B3-B34C-59A0975E8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D32FC-562B-4A62-8965-AF4B39424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21F795-783D-4807-BD63-C4AA9EC5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50DD8-D3B2-4EE3-A856-55A1B3DE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1F2BC-BF67-49A5-B7CD-4892ED62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BA47-3B29-45F5-9E2C-5D910ECF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E0407-CDAB-4776-A5E4-2091234C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23F98-BEC0-4CF2-B2B4-C3E5A800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2397C-0ABF-44D3-850B-9872F8B6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2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2C790-AB8C-486D-B2A8-BC8879C4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38A26-0143-42EE-8749-881DEFB8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49003-54F7-4EC9-9B16-4E2DE57C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85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253F-25A1-4A33-8B1F-13B30E99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D4B4F-E2E8-41F4-B850-F1A029676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9DE76-BE8B-4B99-8D6E-0E1FB36EC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56C32-8FDD-4F22-AC18-DA96E9F6A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30F00-1BE7-441C-805F-14793440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D6B77-DD6D-4A91-A055-795D423A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0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A39D-B970-4F21-9020-BA999BCD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DD34D-BA0E-494A-BBE9-9B27E50A0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7BE18-D161-48CE-8B4D-15D9BA3AD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E00B4-0CB2-4E8A-AAF3-37C01AAA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D95E-3009-4B1F-8DE9-5D3CA899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63435-CA51-46FC-8CC2-E51E314E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FA96-DF1A-4571-B45B-D00BB601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D2108-61AD-452F-84C8-4B3751556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8B8D9-C6F7-4FCE-A613-5AD729E2F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AE39A-B97C-43B5-8C83-2B7A37E33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59DF9-2D2B-4636-A9B6-1B450E08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7AD57-F9F5-47E6-9573-6E3D536C0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E68EF-43E2-4FC9-820D-086CD872B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80E12-8FCE-485F-80FA-9D95E186D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88383-6593-4EA8-81F1-1D348949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2163A-A901-42B4-89CA-2AECD29F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7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1631EE-CB7F-4B31-A52A-192A7853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28112-D89E-4C85-A4A4-17C97CB3B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85966-EAB4-4AAC-88FC-2B3D4DBAF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C68C2-8DC9-49FF-A4B9-1CA4E531114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A6442-5F77-4413-8DB4-3E924E4A4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FFF0D-1FE0-4BC6-AAB1-7CA1344CD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5654B-D2DD-417A-9C32-0707975E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4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4A24F4F5-80EF-46FA-886D-FE408EC8D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0556" y="2374426"/>
            <a:ext cx="998554" cy="99855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051C6A-DDA8-40DA-8C47-F9E8B5343ED6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>
            <a:off x="5259833" y="3372980"/>
            <a:ext cx="876697" cy="59614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17">
            <a:extLst>
              <a:ext uri="{FF2B5EF4-FFF2-40B4-BE49-F238E27FC236}">
                <a16:creationId xmlns:a16="http://schemas.microsoft.com/office/drawing/2014/main" id="{59B2C453-B3DD-4C31-8C03-22FCDE5C4E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7253" y="3969127"/>
            <a:ext cx="998554" cy="99855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D2EE93-3538-4D4E-8D90-F446CC10B5C5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>
            <a:off x="6136530" y="4967681"/>
            <a:ext cx="0" cy="59614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FFF5D9C3-5B54-4C6D-A142-A076ABF14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7253" y="5563828"/>
            <a:ext cx="998554" cy="99855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EFD43AE-8F3D-4F15-AD2F-0281588E3C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0462" y="638974"/>
            <a:ext cx="1138741" cy="1104292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719D57-BE89-43B6-B953-FD757876CE44}"/>
              </a:ext>
            </a:extLst>
          </p:cNvPr>
          <p:cNvCxnSpPr>
            <a:cxnSpLocks/>
            <a:stCxn id="25" idx="2"/>
            <a:endCxn id="11" idx="0"/>
          </p:cNvCxnSpPr>
          <p:nvPr/>
        </p:nvCxnSpPr>
        <p:spPr>
          <a:xfrm>
            <a:off x="5259833" y="1743266"/>
            <a:ext cx="0" cy="63116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D7EA6FF-4F86-4D9C-B7B4-D85536C92C41}"/>
              </a:ext>
            </a:extLst>
          </p:cNvPr>
          <p:cNvSpPr txBox="1"/>
          <p:nvPr/>
        </p:nvSpPr>
        <p:spPr>
          <a:xfrm>
            <a:off x="2208230" y="638974"/>
            <a:ext cx="232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Project Monitoring Dataset Tables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720A7A-4F51-4B89-8DE6-D5777ED32429}"/>
              </a:ext>
            </a:extLst>
          </p:cNvPr>
          <p:cNvSpPr txBox="1"/>
          <p:nvPr/>
        </p:nvSpPr>
        <p:spPr>
          <a:xfrm>
            <a:off x="2208230" y="2374426"/>
            <a:ext cx="232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Project Auth Base Views Dataset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27B1CC-5C05-405D-A0E1-1AAB2E463142}"/>
              </a:ext>
            </a:extLst>
          </p:cNvPr>
          <p:cNvSpPr txBox="1"/>
          <p:nvPr/>
        </p:nvSpPr>
        <p:spPr>
          <a:xfrm>
            <a:off x="6667118" y="3969127"/>
            <a:ext cx="3975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Consolidated (Domain Level) Monitoring &amp; Audit Control Dataset View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7884BD-3364-41DB-B7DF-7CB118B9624E}"/>
              </a:ext>
            </a:extLst>
          </p:cNvPr>
          <p:cNvSpPr txBox="1"/>
          <p:nvPr/>
        </p:nvSpPr>
        <p:spPr>
          <a:xfrm>
            <a:off x="6932405" y="5563828"/>
            <a:ext cx="262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Operations Dataset 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D506B2-BDA4-4BFB-84EA-42689F4E0A58}"/>
              </a:ext>
            </a:extLst>
          </p:cNvPr>
          <p:cNvSpPr txBox="1"/>
          <p:nvPr/>
        </p:nvSpPr>
        <p:spPr>
          <a:xfrm>
            <a:off x="2208231" y="1295462"/>
            <a:ext cx="232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Monitoring tables for storing Big Query &amp; Airflow Logs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C6594-3A8C-4B0F-9F7B-58DC92C70F90}"/>
              </a:ext>
            </a:extLst>
          </p:cNvPr>
          <p:cNvSpPr txBox="1"/>
          <p:nvPr/>
        </p:nvSpPr>
        <p:spPr>
          <a:xfrm>
            <a:off x="2208231" y="3030184"/>
            <a:ext cx="232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Broad Views (Select *) on Monitoring Project Tables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97C3EE-8BE1-48EF-918C-48D75C9BD4AE}"/>
              </a:ext>
            </a:extLst>
          </p:cNvPr>
          <p:cNvSpPr txBox="1"/>
          <p:nvPr/>
        </p:nvSpPr>
        <p:spPr>
          <a:xfrm>
            <a:off x="6932407" y="4630512"/>
            <a:ext cx="3559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Refined Views in Project Audit Control Dataset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EFFB1-825E-4142-BFB8-2AA74C56E911}"/>
              </a:ext>
            </a:extLst>
          </p:cNvPr>
          <p:cNvSpPr txBox="1"/>
          <p:nvPr/>
        </p:nvSpPr>
        <p:spPr>
          <a:xfrm>
            <a:off x="6932407" y="5927356"/>
            <a:ext cx="2994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Unionized Views in Consumer Project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F3E122-5982-4B52-BEDF-1002C433BC95}"/>
              </a:ext>
            </a:extLst>
          </p:cNvPr>
          <p:cNvSpPr txBox="1"/>
          <p:nvPr/>
        </p:nvSpPr>
        <p:spPr>
          <a:xfrm>
            <a:off x="3544489" y="1894786"/>
            <a:ext cx="1545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Add Authorization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489B96-0757-4CE9-B2B4-80132FFCBA61}"/>
              </a:ext>
            </a:extLst>
          </p:cNvPr>
          <p:cNvSpPr txBox="1"/>
          <p:nvPr/>
        </p:nvSpPr>
        <p:spPr>
          <a:xfrm>
            <a:off x="6240562" y="5130412"/>
            <a:ext cx="1545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Add Authorization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4CEC90-74D8-4FBC-9391-030E721168EE}"/>
              </a:ext>
            </a:extLst>
          </p:cNvPr>
          <p:cNvSpPr txBox="1"/>
          <p:nvPr/>
        </p:nvSpPr>
        <p:spPr>
          <a:xfrm>
            <a:off x="3577473" y="87177"/>
            <a:ext cx="5037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Monitoring &amp; Audit Control View Data Model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D42D085-D367-4F70-9A56-DDFB2D3E55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8625" y="2374426"/>
            <a:ext cx="998554" cy="998554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C3DA324-08E2-4FA6-93F6-1F72BFD830FB}"/>
              </a:ext>
            </a:extLst>
          </p:cNvPr>
          <p:cNvCxnSpPr>
            <a:cxnSpLocks/>
            <a:stCxn id="46" idx="2"/>
            <a:endCxn id="18" idx="0"/>
          </p:cNvCxnSpPr>
          <p:nvPr/>
        </p:nvCxnSpPr>
        <p:spPr>
          <a:xfrm flipH="1">
            <a:off x="6136530" y="3372980"/>
            <a:ext cx="991372" cy="59614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Graphic 48">
            <a:extLst>
              <a:ext uri="{FF2B5EF4-FFF2-40B4-BE49-F238E27FC236}">
                <a16:creationId xmlns:a16="http://schemas.microsoft.com/office/drawing/2014/main" id="{74E6C503-D02B-41E5-BC54-EE757A8914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8531" y="638974"/>
            <a:ext cx="1138741" cy="1104292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381E19A-91FC-4292-8DDF-E343ACAE195F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>
          <a:xfrm>
            <a:off x="7127902" y="1743266"/>
            <a:ext cx="0" cy="63116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BC00637-D4A7-409A-B20A-2BF2D017456D}"/>
              </a:ext>
            </a:extLst>
          </p:cNvPr>
          <p:cNvSpPr txBox="1"/>
          <p:nvPr/>
        </p:nvSpPr>
        <p:spPr>
          <a:xfrm>
            <a:off x="7828176" y="638974"/>
            <a:ext cx="232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LOB Level Audit Control Dataset Tables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50FD6A-17E8-4C7E-91C0-32DE2051FE5B}"/>
              </a:ext>
            </a:extLst>
          </p:cNvPr>
          <p:cNvSpPr txBox="1"/>
          <p:nvPr/>
        </p:nvSpPr>
        <p:spPr>
          <a:xfrm>
            <a:off x="7828179" y="2374426"/>
            <a:ext cx="232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LOB Level Audit Control Dataset View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419D10-B48F-44D5-8D12-460A9A087F42}"/>
              </a:ext>
            </a:extLst>
          </p:cNvPr>
          <p:cNvSpPr txBox="1"/>
          <p:nvPr/>
        </p:nvSpPr>
        <p:spPr>
          <a:xfrm>
            <a:off x="7828175" y="1295462"/>
            <a:ext cx="232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Audit Control Table which captures audit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0C7E47-A9F1-455E-A7EB-0471AA5983C1}"/>
              </a:ext>
            </a:extLst>
          </p:cNvPr>
          <p:cNvSpPr txBox="1"/>
          <p:nvPr/>
        </p:nvSpPr>
        <p:spPr>
          <a:xfrm>
            <a:off x="7828173" y="3030184"/>
            <a:ext cx="232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View on top of the Audit Control Table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B97A36-F0E7-4FF4-AAC6-BC8F84BC8315}"/>
              </a:ext>
            </a:extLst>
          </p:cNvPr>
          <p:cNvSpPr txBox="1"/>
          <p:nvPr/>
        </p:nvSpPr>
        <p:spPr>
          <a:xfrm>
            <a:off x="4091257" y="3564479"/>
            <a:ext cx="1545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Add Authorization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E39FC9-B0EC-4000-AF59-4FED6AFB1EFF}"/>
              </a:ext>
            </a:extLst>
          </p:cNvPr>
          <p:cNvSpPr txBox="1"/>
          <p:nvPr/>
        </p:nvSpPr>
        <p:spPr>
          <a:xfrm>
            <a:off x="7828172" y="1858787"/>
            <a:ext cx="1937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 Code versioned in GIT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D680A0-9525-488D-8012-615063B98221}"/>
              </a:ext>
            </a:extLst>
          </p:cNvPr>
          <p:cNvSpPr txBox="1"/>
          <p:nvPr/>
        </p:nvSpPr>
        <p:spPr>
          <a:xfrm>
            <a:off x="7828172" y="3538064"/>
            <a:ext cx="1937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 Code versioned in GIT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03C340-116B-4889-B975-F448DCD4AD62}"/>
              </a:ext>
            </a:extLst>
          </p:cNvPr>
          <p:cNvSpPr txBox="1"/>
          <p:nvPr/>
        </p:nvSpPr>
        <p:spPr>
          <a:xfrm>
            <a:off x="7828170" y="5017313"/>
            <a:ext cx="3493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 Code versioned in GIT</a:t>
            </a:r>
          </a:p>
          <a:p>
            <a:r>
              <a:rPr lang="en-US" sz="1400" b="1" dirty="0"/>
              <a:t>(Consolidated Audit Control View Excluded)</a:t>
            </a:r>
          </a:p>
        </p:txBody>
      </p:sp>
    </p:spTree>
    <p:extLst>
      <p:ext uri="{BB962C8B-B14F-4D97-AF65-F5344CB8AC3E}">
        <p14:creationId xmlns:p14="http://schemas.microsoft.com/office/powerpoint/2010/main" val="47481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BAEC1E-15B6-4E41-94C8-5CEBCC2F66AC}"/>
              </a:ext>
            </a:extLst>
          </p:cNvPr>
          <p:cNvSpPr txBox="1"/>
          <p:nvPr/>
        </p:nvSpPr>
        <p:spPr>
          <a:xfrm>
            <a:off x="2220798" y="320040"/>
            <a:ext cx="7750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Appendix A : Workflow for BQ Views &amp; Looker Dashboards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4DACE5-3259-46C4-A34A-09FEDCB0A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984476"/>
              </p:ext>
            </p:extLst>
          </p:nvPr>
        </p:nvGraphicFramePr>
        <p:xfrm>
          <a:off x="124907" y="990173"/>
          <a:ext cx="11942187" cy="552636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5180">
                  <a:extLst>
                    <a:ext uri="{9D8B030D-6E8A-4147-A177-3AD203B41FA5}">
                      <a16:colId xmlns:a16="http://schemas.microsoft.com/office/drawing/2014/main" val="3109258229"/>
                    </a:ext>
                  </a:extLst>
                </a:gridCol>
                <a:gridCol w="4985505">
                  <a:extLst>
                    <a:ext uri="{9D8B030D-6E8A-4147-A177-3AD203B41FA5}">
                      <a16:colId xmlns:a16="http://schemas.microsoft.com/office/drawing/2014/main" val="1215871107"/>
                    </a:ext>
                  </a:extLst>
                </a:gridCol>
                <a:gridCol w="1312686">
                  <a:extLst>
                    <a:ext uri="{9D8B030D-6E8A-4147-A177-3AD203B41FA5}">
                      <a16:colId xmlns:a16="http://schemas.microsoft.com/office/drawing/2014/main" val="2117690589"/>
                    </a:ext>
                  </a:extLst>
                </a:gridCol>
                <a:gridCol w="1110003">
                  <a:extLst>
                    <a:ext uri="{9D8B030D-6E8A-4147-A177-3AD203B41FA5}">
                      <a16:colId xmlns:a16="http://schemas.microsoft.com/office/drawing/2014/main" val="3688914466"/>
                    </a:ext>
                  </a:extLst>
                </a:gridCol>
                <a:gridCol w="1862169">
                  <a:extLst>
                    <a:ext uri="{9D8B030D-6E8A-4147-A177-3AD203B41FA5}">
                      <a16:colId xmlns:a16="http://schemas.microsoft.com/office/drawing/2014/main" val="2065499419"/>
                    </a:ext>
                  </a:extLst>
                </a:gridCol>
                <a:gridCol w="892959">
                  <a:extLst>
                    <a:ext uri="{9D8B030D-6E8A-4147-A177-3AD203B41FA5}">
                      <a16:colId xmlns:a16="http://schemas.microsoft.com/office/drawing/2014/main" val="2882919553"/>
                    </a:ext>
                  </a:extLst>
                </a:gridCol>
                <a:gridCol w="1203685">
                  <a:extLst>
                    <a:ext uri="{9D8B030D-6E8A-4147-A177-3AD203B41FA5}">
                      <a16:colId xmlns:a16="http://schemas.microsoft.com/office/drawing/2014/main" val="1591090751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Item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BQ Model &amp; Dashboard Activities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 / Global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Dependency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Owner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Ticket Required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Time Required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68500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Monitoring Project is created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Global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Platform Team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1-3 Days (Wait)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569353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Logging Sink Dataset is created in Monitoring Project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Global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Item 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Platform Team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1-3 Days (Wait)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471858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Create Broad Authorized Views for Airflow &amp; BQ Logs on Monitoring Tables in </a:t>
                      </a:r>
                      <a:r>
                        <a:rPr lang="en-US" sz="1200" u="none" strike="noStrike" dirty="0" err="1">
                          <a:effectLst/>
                        </a:rPr>
                        <a:t>auth_base_views</a:t>
                      </a:r>
                      <a:r>
                        <a:rPr lang="en-US" sz="1200" u="none" strike="noStrike" dirty="0">
                          <a:effectLst/>
                        </a:rPr>
                        <a:t> dataset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Item 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Product Owner / Data Engineer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1-4 Hours (Review &amp; Wait)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97719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Create Domain Level Dataset in all environment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Platform Team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1-3 Days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044520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Add necessary authorizations (3 Authorizations per environment)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Item 2 and 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Product Owner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30 Minutes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805112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Add Monitoring &amp; Audit Control Parameterized Views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Environment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Data Engineer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 Hour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26638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 variable and params to the general lob config and “Create Database Objects Creation” DAG to support Domain Level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Environment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Data Engineer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41279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Approval of GCP GITHUB Pull Request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Item 6 &amp; 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LOB Lead / Onsite Lead &amp; Product Owner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1-4 Hours (Review &amp; Wait)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374295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Create Operations and Cost Consumption Views in Domain Level dataset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Item 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Data Engineer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15 Minutes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802388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Modify Views in </a:t>
                      </a:r>
                      <a:r>
                        <a:rPr lang="en-US" sz="1200" u="none" strike="noStrike" dirty="0" err="1">
                          <a:effectLst/>
                        </a:rPr>
                        <a:t>Operation_logs</a:t>
                      </a:r>
                      <a:r>
                        <a:rPr lang="en-US" sz="1200" u="none" strike="noStrike" dirty="0">
                          <a:effectLst/>
                        </a:rPr>
                        <a:t> Env Dataset of EIM OPS (Consumer Project)</a:t>
                      </a:r>
                    </a:p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audit_control_combined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view in Domain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Item 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Joseph Van Hook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1-2 Hours (Review &amp; Wait)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29036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Insert records in Domain LOB Source System Mapping Table in Consumer Project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Data Engineer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 Hour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667250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Fix Looker Dashboards to ensure filters reflect new LOB &amp; ensure Visuals do not have LOB filter on Explore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Production 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Item 10 and 11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BI Developer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1 Hour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457204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Approval of Looker GITHUB Pull Request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Production 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Item 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Joseph Van Hook / Robbie Vaughan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15 Minutes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366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4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BAEC1E-15B6-4E41-94C8-5CEBCC2F66AC}"/>
              </a:ext>
            </a:extLst>
          </p:cNvPr>
          <p:cNvSpPr txBox="1"/>
          <p:nvPr/>
        </p:nvSpPr>
        <p:spPr>
          <a:xfrm>
            <a:off x="2402264" y="320040"/>
            <a:ext cx="7387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Appendix B : Consolidated Project/Domain Level Dataset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A1CF96-3B09-4AB5-8146-0AD3FC4EB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918464"/>
              </p:ext>
            </p:extLst>
          </p:nvPr>
        </p:nvGraphicFramePr>
        <p:xfrm>
          <a:off x="1981200" y="1542186"/>
          <a:ext cx="8229601" cy="2286000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2834832">
                  <a:extLst>
                    <a:ext uri="{9D8B030D-6E8A-4147-A177-3AD203B41FA5}">
                      <a16:colId xmlns:a16="http://schemas.microsoft.com/office/drawing/2014/main" val="35093274"/>
                    </a:ext>
                  </a:extLst>
                </a:gridCol>
                <a:gridCol w="2834832">
                  <a:extLst>
                    <a:ext uri="{9D8B030D-6E8A-4147-A177-3AD203B41FA5}">
                      <a16:colId xmlns:a16="http://schemas.microsoft.com/office/drawing/2014/main" val="3169676316"/>
                    </a:ext>
                  </a:extLst>
                </a:gridCol>
                <a:gridCol w="2559937">
                  <a:extLst>
                    <a:ext uri="{9D8B030D-6E8A-4147-A177-3AD203B41FA5}">
                      <a16:colId xmlns:a16="http://schemas.microsoft.com/office/drawing/2014/main" val="2671229166"/>
                    </a:ext>
                  </a:extLst>
                </a:gridCol>
              </a:tblGrid>
              <a:tr h="2540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Consolidated Project / Domain Level Dataset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0059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Domain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Domain Level Dataset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2737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hca-hin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-&lt;env&gt;-cur-</a:t>
                      </a:r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edwhr_ac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42539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hca-hin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-&lt;env&gt;-cur-ops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edwops_ac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96179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Parallon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hca-hin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-&lt;env&gt;-cur-</a:t>
                      </a:r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parallon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edwpara_ac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10507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Clinical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hca-hin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-&lt;env&gt;-cur-clinical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edwclin_ac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2893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hca-hin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-&lt;env&gt;-cur-comp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edwcomp_ac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6076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hca-hin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-&lt;env&gt;-cur-financial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edwfin_ac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46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hca-hin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-&lt;env&gt;-cur-pub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edw_pub_ac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138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71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8DE0C9-43E0-4EB1-B0E3-31B22A952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33791"/>
              </p:ext>
            </p:extLst>
          </p:nvPr>
        </p:nvGraphicFramePr>
        <p:xfrm>
          <a:off x="1366887" y="1143000"/>
          <a:ext cx="9144000" cy="1097280"/>
        </p:xfrm>
        <a:graphic>
          <a:graphicData uri="http://schemas.openxmlformats.org/drawingml/2006/table">
            <a:tbl>
              <a:tblPr firstRow="1">
                <a:tableStyleId>{C083E6E3-FA7D-4D7B-A595-EF9225AFEA82}</a:tableStyleId>
              </a:tblPr>
              <a:tblGrid>
                <a:gridCol w="4804476">
                  <a:extLst>
                    <a:ext uri="{9D8B030D-6E8A-4147-A177-3AD203B41FA5}">
                      <a16:colId xmlns:a16="http://schemas.microsoft.com/office/drawing/2014/main" val="861039476"/>
                    </a:ext>
                  </a:extLst>
                </a:gridCol>
                <a:gridCol w="4339524">
                  <a:extLst>
                    <a:ext uri="{9D8B030D-6E8A-4147-A177-3AD203B41FA5}">
                      <a16:colId xmlns:a16="http://schemas.microsoft.com/office/drawing/2014/main" val="98232277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Shared Dataset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Authorized Dataset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11670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-&lt;Env&gt;-cur-&lt;Domain&gt;.&lt;</a:t>
                      </a:r>
                      <a:r>
                        <a:rPr lang="en-US" sz="1600" u="none" strike="noStrike" dirty="0" err="1">
                          <a:effectLst/>
                        </a:rPr>
                        <a:t>Monitoring_Dataset</a:t>
                      </a:r>
                      <a:r>
                        <a:rPr lang="en-US" sz="1600" u="none" strike="noStrike" dirty="0">
                          <a:effectLst/>
                        </a:rPr>
                        <a:t>&gt;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hca-eim-operations.operation_logs</a:t>
                      </a:r>
                      <a:r>
                        <a:rPr lang="en-US" sz="1600" u="none" strike="noStrike" dirty="0">
                          <a:effectLst/>
                        </a:rPr>
                        <a:t>&lt;_Env(QA/Dev)&gt;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181223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</a:t>
                      </a:r>
                      <a:r>
                        <a:rPr lang="en-US" sz="1600" u="none" strike="noStrike" dirty="0" err="1">
                          <a:effectLst/>
                        </a:rPr>
                        <a:t>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</a:t>
                      </a:r>
                      <a:r>
                        <a:rPr lang="en-US" sz="1600" u="none" strike="noStrike" dirty="0" err="1">
                          <a:effectLst/>
                        </a:rPr>
                        <a:t>edwops_ac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933237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600" u="none" strike="noStrike" dirty="0">
                          <a:effectLst/>
                        </a:rPr>
                        <a:t>hca-hin-monitoring-&lt;Domain&gt;.&lt;BQ_SINK_DATASET&gt;</a:t>
                      </a:r>
                      <a:endParaRPr lang="fi-FI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</a:t>
                      </a:r>
                      <a:r>
                        <a:rPr lang="en-US" sz="1600" u="none" strike="noStrike" dirty="0" err="1">
                          <a:effectLst/>
                        </a:rPr>
                        <a:t>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133456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BAEC1E-15B6-4E41-94C8-5CEBCC2F66AC}"/>
              </a:ext>
            </a:extLst>
          </p:cNvPr>
          <p:cNvSpPr txBox="1"/>
          <p:nvPr/>
        </p:nvSpPr>
        <p:spPr>
          <a:xfrm>
            <a:off x="4229493" y="320040"/>
            <a:ext cx="3733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Appendix D : Authorizations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A1CF96-3B09-4AB5-8146-0AD3FC4EB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97610"/>
              </p:ext>
            </p:extLst>
          </p:nvPr>
        </p:nvGraphicFramePr>
        <p:xfrm>
          <a:off x="1366887" y="2971800"/>
          <a:ext cx="9144000" cy="279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804969">
                  <a:extLst>
                    <a:ext uri="{9D8B030D-6E8A-4147-A177-3AD203B41FA5}">
                      <a16:colId xmlns:a16="http://schemas.microsoft.com/office/drawing/2014/main" val="35093274"/>
                    </a:ext>
                  </a:extLst>
                </a:gridCol>
                <a:gridCol w="4339031">
                  <a:extLst>
                    <a:ext uri="{9D8B030D-6E8A-4147-A177-3AD203B41FA5}">
                      <a16:colId xmlns:a16="http://schemas.microsoft.com/office/drawing/2014/main" val="2671229166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HR Domain (Single LOB in Domain)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0059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Shared Dataset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Authorized Dataset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482737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-prod-cur-</a:t>
                      </a:r>
                      <a:r>
                        <a:rPr lang="en-US" sz="1600" u="none" strike="noStrike" dirty="0" err="1">
                          <a:effectLst/>
                        </a:rPr>
                        <a:t>hr.edwops_ac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hca-eim-operations.operation_logs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0096179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-prod-cur-</a:t>
                      </a:r>
                      <a:r>
                        <a:rPr lang="en-US" sz="1600" u="none" strike="noStrike" dirty="0" err="1">
                          <a:effectLst/>
                        </a:rPr>
                        <a:t>hr.auth_base_views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hca-hin-prod-cur-hr.edwops_ac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4510507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hca-hin-monitoring-hr.bq_sink_d6b788_log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hca-hin-prod-cur-hr.auth_base_views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42893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qa</a:t>
                      </a:r>
                      <a:r>
                        <a:rPr lang="en-US" sz="1600" u="none" strike="noStrike" dirty="0">
                          <a:effectLst/>
                        </a:rPr>
                        <a:t>-cur-</a:t>
                      </a:r>
                      <a:r>
                        <a:rPr lang="en-US" sz="1600" u="none" strike="noStrike" dirty="0" err="1">
                          <a:effectLst/>
                        </a:rPr>
                        <a:t>hr.edwops_ac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hca-eim-operations.operation_logs_qa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706076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qa</a:t>
                      </a:r>
                      <a:r>
                        <a:rPr lang="en-US" sz="1600" u="none" strike="noStrike" dirty="0">
                          <a:effectLst/>
                        </a:rPr>
                        <a:t>-cur-</a:t>
                      </a:r>
                      <a:r>
                        <a:rPr lang="en-US" sz="1600" u="none" strike="noStrike" dirty="0" err="1">
                          <a:effectLst/>
                        </a:rPr>
                        <a:t>hr.auth_base_views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qa</a:t>
                      </a:r>
                      <a:r>
                        <a:rPr lang="en-US" sz="1600" u="none" strike="noStrike" dirty="0">
                          <a:effectLst/>
                        </a:rPr>
                        <a:t>-cur-</a:t>
                      </a:r>
                      <a:r>
                        <a:rPr lang="en-US" sz="1600" u="none" strike="noStrike" dirty="0" err="1">
                          <a:effectLst/>
                        </a:rPr>
                        <a:t>hr.edwops_ac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55846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hca-hin-monitoring-hr.bq_sink_d6b788_log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hca-hin-qa-cur-hr.auth_base_views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9413875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-dev-cur-</a:t>
                      </a:r>
                      <a:r>
                        <a:rPr lang="en-US" sz="1600" u="none" strike="noStrike" dirty="0" err="1">
                          <a:effectLst/>
                        </a:rPr>
                        <a:t>hr.edwops_ac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hca-eim-operations.operation_logs_dev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0918573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-dev-cur-</a:t>
                      </a:r>
                      <a:r>
                        <a:rPr lang="en-US" sz="1600" u="none" strike="noStrike" dirty="0" err="1">
                          <a:effectLst/>
                        </a:rPr>
                        <a:t>hr.auth_base_views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hca-hin-dev-cur-hr.edwops_ac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759566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hca-hin-monitoring-hr.bq_sink_d6b788_log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</a:t>
                      </a:r>
                      <a:r>
                        <a:rPr lang="en-US" sz="1600" u="none" strike="noStrike" dirty="0">
                          <a:effectLst/>
                        </a:rPr>
                        <a:t>-</a:t>
                      </a:r>
                      <a:r>
                        <a:rPr lang="en-US" sz="1600" u="none" strike="noStrike" dirty="0" err="1">
                          <a:effectLst/>
                        </a:rPr>
                        <a:t>hin</a:t>
                      </a:r>
                      <a:r>
                        <a:rPr lang="en-US" sz="1600" u="none" strike="noStrike" dirty="0">
                          <a:effectLst/>
                        </a:rPr>
                        <a:t>-dev-cur-</a:t>
                      </a:r>
                      <a:r>
                        <a:rPr lang="en-US" sz="1600" u="none" strike="noStrike" dirty="0" err="1">
                          <a:effectLst/>
                        </a:rPr>
                        <a:t>hr.auth_base_views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26481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71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8DE0C9-43E0-4EB1-B0E3-31B22A952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150499"/>
              </p:ext>
            </p:extLst>
          </p:nvPr>
        </p:nvGraphicFramePr>
        <p:xfrm>
          <a:off x="1366887" y="1143000"/>
          <a:ext cx="9144000" cy="1097280"/>
        </p:xfrm>
        <a:graphic>
          <a:graphicData uri="http://schemas.openxmlformats.org/drawingml/2006/table">
            <a:tbl>
              <a:tblPr firstRow="1">
                <a:tableStyleId>{C083E6E3-FA7D-4D7B-A595-EF9225AFEA82}</a:tableStyleId>
              </a:tblPr>
              <a:tblGrid>
                <a:gridCol w="4804476">
                  <a:extLst>
                    <a:ext uri="{9D8B030D-6E8A-4147-A177-3AD203B41FA5}">
                      <a16:colId xmlns:a16="http://schemas.microsoft.com/office/drawing/2014/main" val="861039476"/>
                    </a:ext>
                  </a:extLst>
                </a:gridCol>
                <a:gridCol w="4339524">
                  <a:extLst>
                    <a:ext uri="{9D8B030D-6E8A-4147-A177-3AD203B41FA5}">
                      <a16:colId xmlns:a16="http://schemas.microsoft.com/office/drawing/2014/main" val="98232277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Shared Dataset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Authorized Dataset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11670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-&lt;Env&gt;-cur-&lt;Domain&gt;.&lt;</a:t>
                      </a:r>
                      <a:r>
                        <a:rPr lang="en-US" sz="1600" u="none" strike="noStrike" dirty="0" err="1">
                          <a:effectLst/>
                        </a:rPr>
                        <a:t>Monitoring_Dataset</a:t>
                      </a:r>
                      <a:r>
                        <a:rPr lang="en-US" sz="1600" u="none" strike="noStrike" dirty="0">
                          <a:effectLst/>
                        </a:rPr>
                        <a:t>&gt;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hca-eim-operations.operation_logs</a:t>
                      </a:r>
                      <a:r>
                        <a:rPr lang="en-US" sz="1600" u="none" strike="noStrike" dirty="0">
                          <a:effectLst/>
                        </a:rPr>
                        <a:t>&lt;_Env(QA/Dev)&gt;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181223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</a:t>
                      </a:r>
                      <a:r>
                        <a:rPr lang="en-US" sz="1600" u="none" strike="noStrike" dirty="0" err="1">
                          <a:effectLst/>
                        </a:rPr>
                        <a:t>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</a:t>
                      </a:r>
                      <a:r>
                        <a:rPr lang="en-US" sz="1600" u="none" strike="noStrike" dirty="0" err="1">
                          <a:effectLst/>
                        </a:rPr>
                        <a:t>edwops_ac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933237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600" u="none" strike="noStrike" dirty="0">
                          <a:effectLst/>
                        </a:rPr>
                        <a:t>hca-hin-monitoring-&lt;Domain&gt;.&lt;BQ_SINK_DATASET&gt;</a:t>
                      </a:r>
                      <a:endParaRPr lang="fi-FI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</a:rPr>
                        <a:t>hca-hin</a:t>
                      </a:r>
                      <a:r>
                        <a:rPr lang="en-US" sz="1600" u="none" strike="noStrike" dirty="0">
                          <a:effectLst/>
                        </a:rPr>
                        <a:t>-&lt;Env&gt;-cur-&lt;Domain&gt;.</a:t>
                      </a:r>
                      <a:r>
                        <a:rPr lang="en-US" sz="1600" u="none" strike="noStrike" dirty="0" err="1">
                          <a:effectLst/>
                        </a:rPr>
                        <a:t>auth_base_views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133456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BAEC1E-15B6-4E41-94C8-5CEBCC2F66AC}"/>
              </a:ext>
            </a:extLst>
          </p:cNvPr>
          <p:cNvSpPr txBox="1"/>
          <p:nvPr/>
        </p:nvSpPr>
        <p:spPr>
          <a:xfrm>
            <a:off x="4238920" y="322852"/>
            <a:ext cx="3714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Appendix C : Authorizations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2EC68D-E185-49A8-9C41-9B96E1F41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91990"/>
              </p:ext>
            </p:extLst>
          </p:nvPr>
        </p:nvGraphicFramePr>
        <p:xfrm>
          <a:off x="1366887" y="2967969"/>
          <a:ext cx="9144000" cy="27940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4804970">
                  <a:extLst>
                    <a:ext uri="{9D8B030D-6E8A-4147-A177-3AD203B41FA5}">
                      <a16:colId xmlns:a16="http://schemas.microsoft.com/office/drawing/2014/main" val="692811179"/>
                    </a:ext>
                  </a:extLst>
                </a:gridCol>
                <a:gridCol w="4339030">
                  <a:extLst>
                    <a:ext uri="{9D8B030D-6E8A-4147-A177-3AD203B41FA5}">
                      <a16:colId xmlns:a16="http://schemas.microsoft.com/office/drawing/2014/main" val="3433250830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OPS Domain (Multiple LOB in Domain)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08459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u="none" strike="noStrike" kern="1200" dirty="0">
                          <a:effectLst/>
                        </a:rPr>
                        <a:t>Shared Dataset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1" u="none" strike="noStrike" kern="1200" dirty="0">
                          <a:effectLst/>
                        </a:rPr>
                        <a:t>Authorized Dataset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9891728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-prod-cur-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ops.edwops_ac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hca-eim-operations.operation_logs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4268597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-prod-cur-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ops.auth_base_views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-prod-cur-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ops.edwops_ac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3203432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hca-hin-monitoring-ops.bq_sink_ops_88334e_log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hca-hin-prod-cur-ops.auth_base_views</a:t>
                      </a:r>
                      <a:endParaRPr lang="en-US" sz="16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115195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qa</a:t>
                      </a:r>
                      <a:r>
                        <a:rPr lang="en-US" sz="1600" u="none" strike="noStrike" kern="1200" dirty="0">
                          <a:effectLst/>
                        </a:rPr>
                        <a:t>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ops.edwops_ac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hca-eim-operations.operation_logs_qa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836636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qa</a:t>
                      </a:r>
                      <a:r>
                        <a:rPr lang="en-US" sz="1600" u="none" strike="noStrike" kern="1200" dirty="0">
                          <a:effectLst/>
                        </a:rPr>
                        <a:t>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ops.auth_base_views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hca-hin-qa-cur-ops.edwops_ac</a:t>
                      </a:r>
                      <a:endParaRPr lang="en-US" sz="16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221618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hca-hin-monitoring-ops.bq_sink_ops_88334e_log</a:t>
                      </a:r>
                      <a:endParaRPr lang="en-US" sz="16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hca-hin-qa-cur-ops.auth_base_views</a:t>
                      </a:r>
                      <a:endParaRPr lang="en-US" sz="16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262298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-dev-cur-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ops.edwops_ac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hca-eim-operations.operation_logs_dev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662505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-dev-cur-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ops.auth_base_views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hca-hin-dev-cur-ops.edwops_ac</a:t>
                      </a:r>
                      <a:endParaRPr lang="en-US" sz="16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800613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hca-hin-monitoring-ops.bq_sink_ops_88334e_log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hca</a:t>
                      </a:r>
                      <a:r>
                        <a:rPr lang="en-US" sz="1600" u="none" strike="noStrike" kern="1200" dirty="0">
                          <a:effectLst/>
                        </a:rPr>
                        <a:t>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hin</a:t>
                      </a:r>
                      <a:r>
                        <a:rPr lang="en-US" sz="1600" u="none" strike="noStrike" kern="1200" dirty="0">
                          <a:effectLst/>
                        </a:rPr>
                        <a:t>-dev-cur-</a:t>
                      </a:r>
                      <a:r>
                        <a:rPr lang="en-US" sz="1600" u="none" strike="noStrike" kern="1200" dirty="0" err="1">
                          <a:effectLst/>
                        </a:rPr>
                        <a:t>ops.auth_base_views</a:t>
                      </a:r>
                      <a:endParaRPr lang="en-US" sz="16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9336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08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6185</TotalTime>
  <Words>954</Words>
  <Application>Microsoft Office PowerPoint</Application>
  <PresentationFormat>Widescreen</PresentationFormat>
  <Paragraphs>203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Dmello Merwin</dc:creator>
  <cp:lastModifiedBy>Dmello Merwin</cp:lastModifiedBy>
  <cp:revision>51</cp:revision>
  <dcterms:created xsi:type="dcterms:W3CDTF">2023-08-31T11:29:05Z</dcterms:created>
  <dcterms:modified xsi:type="dcterms:W3CDTF">2023-10-18T11:18:59Z</dcterms:modified>
</cp:coreProperties>
</file>